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F799A-E463-45FC-9B42-9C03C5FAD80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1142E-58E1-4CE4-8CCB-51C39DE73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1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F799A-E463-45FC-9B42-9C03C5FAD80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1142E-58E1-4CE4-8CCB-51C39DE73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667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F799A-E463-45FC-9B42-9C03C5FAD80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1142E-58E1-4CE4-8CCB-51C39DE73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11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F799A-E463-45FC-9B42-9C03C5FAD80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1142E-58E1-4CE4-8CCB-51C39DE73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00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F799A-E463-45FC-9B42-9C03C5FAD80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1142E-58E1-4CE4-8CCB-51C39DE73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828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F799A-E463-45FC-9B42-9C03C5FAD80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1142E-58E1-4CE4-8CCB-51C39DE73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690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F799A-E463-45FC-9B42-9C03C5FAD80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1142E-58E1-4CE4-8CCB-51C39DE73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489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F799A-E463-45FC-9B42-9C03C5FAD80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1142E-58E1-4CE4-8CCB-51C39DE73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92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F799A-E463-45FC-9B42-9C03C5FAD80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1142E-58E1-4CE4-8CCB-51C39DE73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973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F799A-E463-45FC-9B42-9C03C5FAD80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1142E-58E1-4CE4-8CCB-51C39DE73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561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F799A-E463-45FC-9B42-9C03C5FAD80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1142E-58E1-4CE4-8CCB-51C39DE73459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1463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F799A-E463-45FC-9B42-9C03C5FAD80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1142E-58E1-4CE4-8CCB-51C39DE73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484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F799A-E463-45FC-9B42-9C03C5FAD80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1142E-58E1-4CE4-8CCB-51C39DE73459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5442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F799A-E463-45FC-9B42-9C03C5FAD80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1142E-58E1-4CE4-8CCB-51C39DE73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747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F799A-E463-45FC-9B42-9C03C5FAD80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1142E-58E1-4CE4-8CCB-51C39DE73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850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F799A-E463-45FC-9B42-9C03C5FAD80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1142E-58E1-4CE4-8CCB-51C39DE73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188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F799A-E463-45FC-9B42-9C03C5FAD807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3C1142E-58E1-4CE4-8CCB-51C39DE73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6242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69CDE-36D4-4B1D-C140-E0B0B50D3A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 err="1"/>
              <a:t>DeltaCalc</a:t>
            </a:r>
            <a:br>
              <a:rPr lang="ru-RU" b="1" dirty="0"/>
            </a:br>
            <a:r>
              <a:rPr lang="ru-RU" sz="2000" dirty="0"/>
              <a:t>Разработка веб-приложения для автоматизированного расчёта погрешностей косвенных измерений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9FF3CF-A5FF-8149-E16D-D5F652EF98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sz="1400" dirty="0"/>
              <a:t>Автор: Мезенцев Григорий</a:t>
            </a:r>
          </a:p>
          <a:p>
            <a:pPr algn="l"/>
            <a:r>
              <a:rPr lang="ru-RU" sz="1400" dirty="0"/>
              <a:t>Научный руководитель: Куркина Светлана Владимировна</a:t>
            </a:r>
          </a:p>
        </p:txBody>
      </p:sp>
    </p:spTree>
    <p:extLst>
      <p:ext uri="{BB962C8B-B14F-4D97-AF65-F5344CB8AC3E}">
        <p14:creationId xmlns:p14="http://schemas.microsoft.com/office/powerpoint/2010/main" val="1477195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33235-380D-D355-8A3E-B05292E40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Проблема:</a:t>
            </a:r>
            <a:br>
              <a:rPr lang="ru-RU" dirty="0"/>
            </a:br>
            <a:r>
              <a:rPr lang="ru-RU" sz="1800" dirty="0"/>
              <a:t>Трудоёмкость ручных расчётов погрешностей косвенных измерений</a:t>
            </a:r>
            <a:r>
              <a:rPr lang="en-US" sz="1800" dirty="0"/>
              <a:t>, </a:t>
            </a:r>
            <a:r>
              <a:rPr lang="ru-RU" sz="1800" dirty="0"/>
              <a:t>Высокий риск ошибок при вычислении частных производных сложных функций</a:t>
            </a:r>
            <a:r>
              <a:rPr lang="en-US" sz="1800" dirty="0"/>
              <a:t>.</a:t>
            </a:r>
            <a:br>
              <a:rPr lang="ru-RU" sz="1800" dirty="0"/>
            </a:br>
            <a:br>
              <a:rPr lang="ru-RU" sz="1600" dirty="0"/>
            </a:br>
            <a:endParaRPr lang="ru-RU" sz="1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EF9FFE-287B-730B-46B7-DB2B4AED7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sz="3600" b="1" dirty="0"/>
              <a:t>Цель проекта:</a:t>
            </a:r>
            <a:endParaRPr lang="en-US" sz="3600" b="1" dirty="0"/>
          </a:p>
          <a:p>
            <a:pPr marL="0" indent="0">
              <a:buNone/>
            </a:pPr>
            <a:r>
              <a:rPr lang="ru-RU" sz="23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Разработать</a:t>
            </a:r>
            <a:r>
              <a:rPr lang="ru-RU" sz="2300" dirty="0"/>
              <a:t> </a:t>
            </a:r>
            <a:r>
              <a:rPr lang="ru-RU" sz="23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веб-приложение, автоматизирующее расчёт погрешностей с визуализацией результатов и образовательным компонентом, помогая пользователю не ошибаться в механических расчетах.</a:t>
            </a:r>
            <a:endParaRPr lang="en-US" sz="23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ru-RU" sz="3300" b="1" dirty="0"/>
              <a:t>Задачи:</a:t>
            </a:r>
            <a:r>
              <a:rPr lang="en-US" sz="3300" b="1" dirty="0"/>
              <a:t> </a:t>
            </a:r>
          </a:p>
          <a:p>
            <a:r>
              <a:rPr lang="ru-RU" sz="2300" dirty="0"/>
              <a:t>Реализовать парсинг и анализ математических выражений</a:t>
            </a:r>
          </a:p>
          <a:p>
            <a:r>
              <a:rPr lang="ru-RU" sz="2300" dirty="0"/>
              <a:t>Разработать алгоритм вычисления частных производных</a:t>
            </a:r>
          </a:p>
          <a:p>
            <a:r>
              <a:rPr lang="ru-RU" sz="2300" dirty="0"/>
              <a:t>Создать систему визуализации вкладов переменных</a:t>
            </a:r>
          </a:p>
          <a:p>
            <a:r>
              <a:rPr lang="ru-RU" sz="2300" dirty="0"/>
              <a:t>Реализовать образовательный раздел с теорией</a:t>
            </a:r>
          </a:p>
          <a:p>
            <a:r>
              <a:rPr lang="ru-RU" sz="2300" dirty="0"/>
              <a:t>Обеспечить удобный и интуитивный интерфейс</a:t>
            </a:r>
          </a:p>
          <a:p>
            <a:pPr marL="0" indent="0">
              <a:buNone/>
            </a:pPr>
            <a:endParaRPr lang="ru-RU" sz="2000" b="1" dirty="0"/>
          </a:p>
          <a:p>
            <a:pPr marL="0" indent="0">
              <a:buNone/>
            </a:pPr>
            <a:br>
              <a:rPr lang="ru-RU" dirty="0"/>
            </a:br>
            <a:endParaRPr lang="ru-RU" sz="1600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8442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B241A1-CDFE-EDF7-D3B4-431B31CE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57175"/>
            <a:ext cx="8596668" cy="1276350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/>
              <a:t>Пользователи проекта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35F635-55E6-62A9-613E-A69F4913C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8"/>
            <a:ext cx="11009841" cy="5897561"/>
          </a:xfrm>
        </p:spPr>
        <p:txBody>
          <a:bodyPr>
            <a:normAutofit/>
          </a:bodyPr>
          <a:lstStyle/>
          <a:p>
            <a:r>
              <a:rPr lang="ru-RU" sz="2000" b="1" dirty="0"/>
              <a:t>Студенты технических специальностей:</a:t>
            </a:r>
            <a:br>
              <a:rPr lang="ru-RU" sz="2000" b="1" dirty="0"/>
            </a:br>
            <a:r>
              <a:rPr lang="ru-RU" sz="1600" dirty="0"/>
              <a:t>Выполнение лабораторных работ</a:t>
            </a:r>
            <a:br>
              <a:rPr lang="ru-RU" sz="1600" dirty="0"/>
            </a:br>
            <a:r>
              <a:rPr lang="ru-RU" sz="1600" dirty="0"/>
              <a:t>Подготовка курсовых проектов</a:t>
            </a:r>
            <a:br>
              <a:rPr lang="ru-RU" sz="1600" dirty="0"/>
            </a:br>
            <a:r>
              <a:rPr lang="ru-RU" sz="1600" dirty="0"/>
              <a:t>Подготовка к экзаменам по физике</a:t>
            </a:r>
          </a:p>
          <a:p>
            <a:r>
              <a:rPr lang="ru-RU" b="1" dirty="0"/>
              <a:t> </a:t>
            </a:r>
            <a:r>
              <a:rPr lang="ru-RU" sz="2000" b="1" dirty="0"/>
              <a:t>Научные исследователи:</a:t>
            </a:r>
            <a:br>
              <a:rPr lang="ru-RU" b="1" dirty="0"/>
            </a:br>
            <a:r>
              <a:rPr lang="ru-RU" sz="1600" dirty="0"/>
              <a:t>Обработка экспериментальных данных</a:t>
            </a:r>
            <a:br>
              <a:rPr lang="ru-RU" sz="1600" dirty="0"/>
            </a:br>
            <a:r>
              <a:rPr lang="ru-RU" sz="1700" dirty="0"/>
              <a:t>Анализ точности измерений</a:t>
            </a:r>
          </a:p>
          <a:p>
            <a:r>
              <a:rPr lang="ru-RU" b="1" dirty="0"/>
              <a:t> </a:t>
            </a:r>
            <a:r>
              <a:rPr lang="ru-RU" sz="2000" b="1" dirty="0"/>
              <a:t>Преподаватели:</a:t>
            </a:r>
            <a:br>
              <a:rPr lang="ru-RU" b="1" dirty="0"/>
            </a:br>
            <a:r>
              <a:rPr lang="ru-RU" sz="1700" dirty="0"/>
              <a:t>Проверка студенческих работ</a:t>
            </a:r>
            <a:br>
              <a:rPr lang="ru-RU" sz="1700" dirty="0"/>
            </a:br>
            <a:r>
              <a:rPr lang="ru-RU" sz="1700" dirty="0"/>
              <a:t>Создание учебных материалов</a:t>
            </a:r>
            <a:br>
              <a:rPr lang="ru-RU" b="1" dirty="0"/>
            </a:br>
            <a:br>
              <a:rPr lang="ru-RU" b="1" dirty="0"/>
            </a:br>
            <a:br>
              <a:rPr lang="ru-RU" sz="1600" dirty="0"/>
            </a:br>
            <a:br>
              <a:rPr lang="ru-RU" dirty="0"/>
            </a:br>
            <a:br>
              <a:rPr lang="ru-RU" b="1" dirty="0"/>
            </a:br>
            <a:endParaRPr lang="ru-RU" sz="1600" dirty="0"/>
          </a:p>
          <a:p>
            <a:pPr>
              <a:buFont typeface="+mj-lt"/>
              <a:buAutoNum type="arabicPeriod"/>
            </a:pPr>
            <a:endParaRPr lang="ru-RU" b="1" dirty="0"/>
          </a:p>
          <a:p>
            <a:pPr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6260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F161FD-789A-F0F1-3726-36148277E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524" y="240268"/>
            <a:ext cx="12192000" cy="1320800"/>
          </a:xfrm>
        </p:spPr>
        <p:txBody>
          <a:bodyPr/>
          <a:lstStyle/>
          <a:p>
            <a:pPr algn="ctr"/>
            <a:r>
              <a:rPr lang="ru-RU" dirty="0"/>
              <a:t>Анализ аналогов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344C0DB1-FB9A-D221-FC38-BA9614BA2A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9071424"/>
              </p:ext>
            </p:extLst>
          </p:nvPr>
        </p:nvGraphicFramePr>
        <p:xfrm>
          <a:off x="1953154" y="900668"/>
          <a:ext cx="8285691" cy="4195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593">
                  <a:extLst>
                    <a:ext uri="{9D8B030D-6E8A-4147-A177-3AD203B41FA5}">
                      <a16:colId xmlns:a16="http://schemas.microsoft.com/office/drawing/2014/main" val="3922307918"/>
                    </a:ext>
                  </a:extLst>
                </a:gridCol>
                <a:gridCol w="1606474">
                  <a:extLst>
                    <a:ext uri="{9D8B030D-6E8A-4147-A177-3AD203B41FA5}">
                      <a16:colId xmlns:a16="http://schemas.microsoft.com/office/drawing/2014/main" val="1907650679"/>
                    </a:ext>
                  </a:extLst>
                </a:gridCol>
                <a:gridCol w="1690024">
                  <a:extLst>
                    <a:ext uri="{9D8B030D-6E8A-4147-A177-3AD203B41FA5}">
                      <a16:colId xmlns:a16="http://schemas.microsoft.com/office/drawing/2014/main" val="1517397378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1744340833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0258387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Критерии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https://uncertaintycalculator.com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Propagation-of-Uncertainty-Calculator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https://uncertainty-calculator.com/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http://www.julianibus.de/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800453"/>
                  </a:ext>
                </a:extLst>
              </a:tr>
              <a:tr h="459422">
                <a:tc>
                  <a:txBody>
                    <a:bodyPr/>
                    <a:lstStyle/>
                    <a:p>
                      <a:r>
                        <a:rPr lang="ru-RU" dirty="0"/>
                        <a:t>Теория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939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ru-RU" dirty="0"/>
                        <a:t>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61176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ru-RU" dirty="0"/>
                        <a:t>Русский язык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316946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lang="ru-RU" dirty="0"/>
                        <a:t>Мат. функции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944538"/>
                  </a:ext>
                </a:extLst>
              </a:tr>
              <a:tr h="426085">
                <a:tc>
                  <a:txBody>
                    <a:bodyPr/>
                    <a:lstStyle/>
                    <a:p>
                      <a:r>
                        <a:rPr lang="ru-RU" dirty="0"/>
                        <a:t>Произвольная функция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28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Обратная связь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8305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0797D7A-2837-4C07-8128-EA9A50417F99}"/>
              </a:ext>
            </a:extLst>
          </p:cNvPr>
          <p:cNvSpPr txBox="1"/>
          <p:nvPr/>
        </p:nvSpPr>
        <p:spPr>
          <a:xfrm>
            <a:off x="414338" y="5298042"/>
            <a:ext cx="1124426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Вывод: </a:t>
            </a:r>
            <a:r>
              <a:rPr lang="ru-RU" sz="1400" dirty="0"/>
              <a:t>Только один из четырёх аналогов предоставляет теоретические материалы</a:t>
            </a:r>
            <a:r>
              <a:rPr lang="en-US" sz="1400" dirty="0"/>
              <a:t>,</a:t>
            </a:r>
            <a:r>
              <a:rPr lang="ru-RU" sz="1400" dirty="0"/>
              <a:t> </a:t>
            </a:r>
            <a:r>
              <a:rPr lang="en-US" sz="1400" dirty="0"/>
              <a:t>y</a:t>
            </a:r>
            <a:r>
              <a:rPr lang="ru-RU" sz="1400" dirty="0"/>
              <a:t>и один из анализируемых сервисов не поддерживает русский язык, что создаёт барьер для русскоязычных пользователей</a:t>
            </a:r>
            <a:r>
              <a:rPr lang="en-US" sz="1400" dirty="0"/>
              <a:t>. </a:t>
            </a:r>
            <a:r>
              <a:rPr lang="en-US" sz="1400" dirty="0" err="1"/>
              <a:t>DeltaCalc</a:t>
            </a:r>
            <a:r>
              <a:rPr lang="en-US" sz="1400" dirty="0"/>
              <a:t> </a:t>
            </a:r>
            <a:r>
              <a:rPr lang="ru-RU" sz="1400" dirty="0"/>
              <a:t>– это не только инструмент, но еще и образовательная платформа для русскоязычных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796976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3AD06-E2EF-6E6D-6BEC-497B5FA0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Технологии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FC795F-375B-C6CF-3C37-2F228034F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0039"/>
            <a:ext cx="8596668" cy="47640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Backend:</a:t>
            </a:r>
          </a:p>
          <a:p>
            <a:r>
              <a:rPr lang="en-US" sz="1400" dirty="0"/>
              <a:t>Python – </a:t>
            </a:r>
            <a:r>
              <a:rPr lang="ru-RU" sz="1400" dirty="0"/>
              <a:t>как основное «ядро» работы.</a:t>
            </a:r>
          </a:p>
          <a:p>
            <a:r>
              <a:rPr lang="en-US" sz="1400" dirty="0"/>
              <a:t>Flask – </a:t>
            </a:r>
            <a:r>
              <a:rPr lang="ru-RU" sz="1400" dirty="0" err="1"/>
              <a:t>микрофреймворк</a:t>
            </a:r>
            <a:r>
              <a:rPr lang="ru-RU" sz="1400" dirty="0"/>
              <a:t> для веб-приложений.</a:t>
            </a:r>
          </a:p>
          <a:p>
            <a:r>
              <a:rPr lang="en-US" sz="1400" dirty="0" err="1"/>
              <a:t>SymPy</a:t>
            </a:r>
            <a:r>
              <a:rPr lang="en-US" sz="1400" dirty="0"/>
              <a:t> – </a:t>
            </a:r>
            <a:r>
              <a:rPr lang="ru-RU" sz="1400" dirty="0"/>
              <a:t>библиотека для работы с формулами.</a:t>
            </a:r>
          </a:p>
          <a:p>
            <a:r>
              <a:rPr lang="en-US" sz="1400" dirty="0" err="1"/>
              <a:t>MathJax</a:t>
            </a:r>
            <a:r>
              <a:rPr lang="en-US" sz="1400" dirty="0"/>
              <a:t> </a:t>
            </a:r>
            <a:r>
              <a:rPr lang="ru-RU" sz="1400" dirty="0"/>
              <a:t>– отображение математических формул.</a:t>
            </a:r>
          </a:p>
          <a:p>
            <a:endParaRPr lang="ru-RU" sz="1400" dirty="0"/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Frontend:</a:t>
            </a:r>
          </a:p>
          <a:p>
            <a:r>
              <a:rPr lang="en-US" sz="1400" dirty="0"/>
              <a:t>HTML/CSS – </a:t>
            </a:r>
            <a:r>
              <a:rPr lang="ru-RU" sz="1400" dirty="0"/>
              <a:t>структура и стилизация.</a:t>
            </a:r>
          </a:p>
          <a:p>
            <a:r>
              <a:rPr lang="en-US" sz="1400" dirty="0"/>
              <a:t>JavaScript –</a:t>
            </a:r>
            <a:r>
              <a:rPr lang="ru-RU" sz="1400" dirty="0"/>
              <a:t> интерактивные элементы.</a:t>
            </a:r>
          </a:p>
          <a:p>
            <a:r>
              <a:rPr lang="en-US" sz="1400" dirty="0"/>
              <a:t>Chart.js –</a:t>
            </a:r>
            <a:r>
              <a:rPr lang="ru-RU" sz="1400" dirty="0"/>
              <a:t> построение графиков и диаграмм.</a:t>
            </a:r>
          </a:p>
          <a:p>
            <a:r>
              <a:rPr lang="en-US" sz="1400" dirty="0" err="1"/>
              <a:t>FontAwesome</a:t>
            </a:r>
            <a:r>
              <a:rPr lang="en-US" sz="1400" dirty="0"/>
              <a:t> – </a:t>
            </a:r>
            <a:r>
              <a:rPr lang="ru-RU" sz="1400" dirty="0"/>
              <a:t>иконки.</a:t>
            </a:r>
            <a:endParaRPr lang="en-US" sz="1400" dirty="0"/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19492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1B14A7-9755-6E2D-E2B9-4A1BA1F41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0007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Суть проекта </a:t>
            </a:r>
            <a:r>
              <a:rPr lang="en-US" sz="3200" b="1" dirty="0" err="1"/>
              <a:t>DeltaCalc</a:t>
            </a:r>
            <a:endParaRPr lang="en-US" sz="32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0454AD-6557-2E76-EDEE-65BFFD5DA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b="1" dirty="0"/>
              <a:t>Что это? </a:t>
            </a:r>
          </a:p>
          <a:p>
            <a:r>
              <a:rPr lang="ru-RU" dirty="0"/>
              <a:t>Веб-инструмент для расчета погрешностей</a:t>
            </a:r>
          </a:p>
          <a:p>
            <a:r>
              <a:rPr lang="ru-RU" dirty="0"/>
              <a:t>Символьные вычисления + визуализация + теория</a:t>
            </a:r>
          </a:p>
          <a:p>
            <a:r>
              <a:rPr lang="ru-RU" b="1" dirty="0">
                <a:solidFill>
                  <a:schemeClr val="tx1"/>
                </a:solidFill>
              </a:rPr>
              <a:t>Цель</a:t>
            </a:r>
            <a:r>
              <a:rPr lang="ru-RU" dirty="0">
                <a:solidFill>
                  <a:schemeClr val="tx1"/>
                </a:solidFill>
              </a:rPr>
              <a:t>: </a:t>
            </a:r>
            <a:r>
              <a:rPr lang="ru-RU" dirty="0"/>
              <a:t>сделать сложные расчеты легкими и понятными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704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3255C-F834-5042-CC12-D7857537B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Демонстрация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6B3838-85EF-8393-2C07-1A7926B89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93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250F2-EA7D-97EB-F672-904D2346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95F154-4A4A-930C-98EE-B069046AF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600" b="1" dirty="0">
                <a:solidFill>
                  <a:schemeClr val="tx1"/>
                </a:solidFill>
              </a:rPr>
              <a:t>Достигнутые результаты:</a:t>
            </a:r>
          </a:p>
          <a:p>
            <a:r>
              <a:rPr lang="ru-RU" sz="1400" dirty="0"/>
              <a:t>Создан рабочий прототип</a:t>
            </a:r>
          </a:p>
          <a:p>
            <a:r>
              <a:rPr lang="ru-RU" sz="1400" dirty="0"/>
              <a:t>Решена проблема трудоемкости ручных вычислений</a:t>
            </a:r>
          </a:p>
          <a:p>
            <a:r>
              <a:rPr lang="ru-RU" sz="1400" dirty="0"/>
              <a:t>Реализован теоретический раздел</a:t>
            </a:r>
          </a:p>
          <a:p>
            <a:pPr marL="0" indent="0">
              <a:buNone/>
            </a:pPr>
            <a:r>
              <a:rPr lang="ru-RU" sz="1600" b="1" dirty="0">
                <a:solidFill>
                  <a:schemeClr val="tx1"/>
                </a:solidFill>
              </a:rPr>
              <a:t>Значимость проекта:</a:t>
            </a:r>
          </a:p>
          <a:p>
            <a:r>
              <a:rPr lang="ru-RU" sz="1400" dirty="0"/>
              <a:t>Снижение порога вхождения в практическую физику</a:t>
            </a:r>
          </a:p>
          <a:p>
            <a:r>
              <a:rPr lang="ru-RU" sz="1400" dirty="0"/>
              <a:t>Повышение точности и воспроизводимости научных результатов</a:t>
            </a:r>
          </a:p>
          <a:p>
            <a:r>
              <a:rPr lang="ru-RU" sz="1400" dirty="0"/>
              <a:t>Инструмент для анализа погрешностей и контроля качества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en-US" dirty="0" err="1"/>
              <a:t>DeltaCalc</a:t>
            </a:r>
            <a:r>
              <a:rPr lang="ru-RU" dirty="0"/>
              <a:t> готов к дальнейшему развитию и внедрению в образовательный и научный процессы</a:t>
            </a:r>
          </a:p>
        </p:txBody>
      </p:sp>
    </p:spTree>
    <p:extLst>
      <p:ext uri="{BB962C8B-B14F-4D97-AF65-F5344CB8AC3E}">
        <p14:creationId xmlns:p14="http://schemas.microsoft.com/office/powerpoint/2010/main" val="4220379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75CA2-10A2-D61A-33BD-3BC1A22D6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Планы на второй семестр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EDAB0C-06A1-D21F-0DEE-FEC2EC48A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Возможность скачивать решение в </a:t>
            </a:r>
            <a:r>
              <a:rPr lang="en-US" sz="2000" dirty="0"/>
              <a:t>pdf</a:t>
            </a:r>
            <a:r>
              <a:rPr lang="ru-RU" sz="2000" dirty="0"/>
              <a:t> формате</a:t>
            </a:r>
          </a:p>
          <a:p>
            <a:r>
              <a:rPr lang="ru-RU" sz="2000" dirty="0"/>
              <a:t>Разные виды расчета погрешностей</a:t>
            </a:r>
          </a:p>
          <a:p>
            <a:r>
              <a:rPr lang="ru-RU" sz="2000" dirty="0"/>
              <a:t>Более удобный ввод</a:t>
            </a:r>
          </a:p>
        </p:txBody>
      </p:sp>
    </p:spTree>
    <p:extLst>
      <p:ext uri="{BB962C8B-B14F-4D97-AF65-F5344CB8AC3E}">
        <p14:creationId xmlns:p14="http://schemas.microsoft.com/office/powerpoint/2010/main" val="151689251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Желтый и оранжевый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89</TotalTime>
  <Words>402</Words>
  <Application>Microsoft Office PowerPoint</Application>
  <PresentationFormat>Широкоэкранный</PresentationFormat>
  <Paragraphs>91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Аспект</vt:lpstr>
      <vt:lpstr>DeltaCalc Разработка веб-приложения для автоматизированного расчёта погрешностей косвенных измерений </vt:lpstr>
      <vt:lpstr>Проблема: Трудоёмкость ручных расчётов погрешностей косвенных измерений, Высокий риск ошибок при вычислении частных производных сложных функций.  </vt:lpstr>
      <vt:lpstr>Пользователи проекта </vt:lpstr>
      <vt:lpstr>Анализ аналогов</vt:lpstr>
      <vt:lpstr>Технологии работы</vt:lpstr>
      <vt:lpstr>Суть проекта DeltaCalc</vt:lpstr>
      <vt:lpstr>Демонстрация проекта</vt:lpstr>
      <vt:lpstr>Выводы</vt:lpstr>
      <vt:lpstr>Планы на второй семестр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 Qwi</dc:creator>
  <cp:lastModifiedBy>est Qwi</cp:lastModifiedBy>
  <cp:revision>1</cp:revision>
  <dcterms:created xsi:type="dcterms:W3CDTF">2025-12-22T19:16:15Z</dcterms:created>
  <dcterms:modified xsi:type="dcterms:W3CDTF">2025-12-22T20:45:40Z</dcterms:modified>
</cp:coreProperties>
</file>